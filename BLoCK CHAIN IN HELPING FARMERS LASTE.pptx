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784" r:id="rId1"/>
  </p:sldMasterIdLst>
  <p:notesMasterIdLst>
    <p:notesMasterId r:id="rId29"/>
  </p:notesMasterIdLst>
  <p:handoutMasterIdLst>
    <p:handoutMasterId r:id="rId30"/>
  </p:handoutMasterIdLst>
  <p:sldIdLst>
    <p:sldId id="312" r:id="rId2"/>
    <p:sldId id="314" r:id="rId3"/>
    <p:sldId id="283" r:id="rId4"/>
    <p:sldId id="270" r:id="rId5"/>
    <p:sldId id="279" r:id="rId6"/>
    <p:sldId id="286" r:id="rId7"/>
    <p:sldId id="285" r:id="rId8"/>
    <p:sldId id="284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306" r:id="rId21"/>
    <p:sldId id="298" r:id="rId22"/>
    <p:sldId id="299" r:id="rId23"/>
    <p:sldId id="300" r:id="rId24"/>
    <p:sldId id="302" r:id="rId25"/>
    <p:sldId id="303" r:id="rId26"/>
    <p:sldId id="304" r:id="rId27"/>
    <p:sldId id="315" r:id="rId28"/>
  </p:sldIdLst>
  <p:sldSz cx="9144000" cy="6858000" type="screen4x3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A0A0"/>
  </p:clrMru>
</p:presentationPr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9DCAF9ED-07DC-4A11-8D7F-57B35C25682E}" styleName="Medium Style 10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93D81CF-94F2-401A-BA57-92F5A7B2D0C5}" styleName="Medium Style 8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FD0F851-EC5A-4D38-B0AD-8093EC10F338}" styleName="Light Style 6">
    <a:wholeTbl>
      <a:tcTxStyle>
        <a:fontRef idx="minor">
          <a:scrgbClr r="0" g="0" b="0"/>
        </a:fontRef>
        <a:schemeClr val="accent5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1FECB4D8-DB02-4DC6-A0A2-4F2EBAE1DC90}" styleName="Medium Style 1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B4B98B0-60AC-42C2-AFA5-B58CD77FA1E5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  <a:tblStyle styleId="{0E3FDE45-AF77-4B5C-9715-49D594BDF05E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500" autoAdjust="0"/>
    <p:restoredTop sz="87993" autoAdjust="0"/>
  </p:normalViewPr>
  <p:slideViewPr>
    <p:cSldViewPr>
      <p:cViewPr>
        <p:scale>
          <a:sx n="66" d="100"/>
          <a:sy n="66" d="100"/>
        </p:scale>
        <p:origin x="-110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31555DB1-8736-42A3-B48D-2B08FB93332A}" type="datetimeFigureOut">
              <a:rPr lang="en-US" smtClean="0"/>
              <a:pPr/>
              <a:t>5/9/2023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5400D380-E0D7-4EB1-B91E-BFCC7DA7F2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0BDB199F-A56C-4049-BA04-1447030960FF}" type="datetimeFigureOut">
              <a:rPr lang="en-US" smtClean="0"/>
              <a:pPr/>
              <a:t>5/9/2023</a:t>
            </a:fld>
            <a:endParaRPr lang="en-US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>
            <a:extLst/>
          </a:lstStyle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/>
          <a:lstStyle>
            <a:extLst/>
          </a:lstStyle>
          <a:p>
            <a:fld id="{B3A019F3-8596-4028-9847-CBD3A185B0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A019F3-8596-4028-9847-CBD3A185B07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extLst/>
          </a:lstStyle>
          <a:p>
            <a:fld id="{B3A019F3-8596-4028-9847-CBD3A185B07A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-Up: 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80772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 dirty="0"/>
          </a:p>
        </p:txBody>
      </p:sp>
      <p:sp>
        <p:nvSpPr>
          <p:cNvPr id="15" name="Rectangle 11"/>
          <p:cNvSpPr>
            <a:spLocks noGrp="1"/>
          </p:cNvSpPr>
          <p:nvPr>
            <p:ph sz="quarter" idx="15"/>
          </p:nvPr>
        </p:nvSpPr>
        <p:spPr>
          <a:xfrm>
            <a:off x="301752" y="609600"/>
            <a:ext cx="8074152" cy="2706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3017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/>
          </a:p>
        </p:txBody>
      </p:sp>
      <p:sp>
        <p:nvSpPr>
          <p:cNvPr id="18" name="Rectangle 11"/>
          <p:cNvSpPr>
            <a:spLocks noGrp="1"/>
          </p:cNvSpPr>
          <p:nvPr>
            <p:ph sz="quarter" idx="17"/>
          </p:nvPr>
        </p:nvSpPr>
        <p:spPr>
          <a:xfrm>
            <a:off x="301752" y="3547872"/>
            <a:ext cx="3965448" cy="2706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1" name="Rectangle 8"/>
          <p:cNvSpPr>
            <a:spLocks noGrp="1"/>
          </p:cNvSpPr>
          <p:nvPr>
            <p:ph type="body" sz="quarter" idx="20" hasCustomPrompt="1"/>
          </p:nvPr>
        </p:nvSpPr>
        <p:spPr>
          <a:xfrm>
            <a:off x="44165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/>
          </a:p>
        </p:txBody>
      </p:sp>
      <p:sp>
        <p:nvSpPr>
          <p:cNvPr id="23" name="Rectangle 11"/>
          <p:cNvSpPr>
            <a:spLocks noGrp="1"/>
          </p:cNvSpPr>
          <p:nvPr>
            <p:ph sz="quarter" idx="21"/>
          </p:nvPr>
        </p:nvSpPr>
        <p:spPr>
          <a:xfrm>
            <a:off x="4416552" y="3547872"/>
            <a:ext cx="3965448" cy="2706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Rectangle 19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extLst/>
          </a:lstStyle>
          <a:p>
            <a:pPr algn="r"/>
            <a:fld id="{FEC9D3F2-7140-49B9-866C-D21246A5836E}" type="datetime1">
              <a:rPr lang="en-US" smtClean="0"/>
              <a:pPr algn="r"/>
              <a:t>5/9/2023</a:t>
            </a:fld>
            <a:endParaRPr lang="en-US"/>
          </a:p>
        </p:txBody>
      </p:sp>
      <p:sp>
        <p:nvSpPr>
          <p:cNvPr id="20" name="Rectangle 20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/>
          </a:p>
        </p:txBody>
      </p:sp>
      <p:sp>
        <p:nvSpPr>
          <p:cNvPr id="22" name="Rectangle 22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4038600"/>
            <a:ext cx="9144000" cy="609600"/>
          </a:xfrm>
          <a:prstGeom prst="rect">
            <a:avLst/>
          </a:prstGeom>
          <a:solidFill>
            <a:schemeClr val="accent6">
              <a:shade val="75000"/>
            </a:schemeClr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28600" y="4114800"/>
            <a:ext cx="7239000" cy="533400"/>
          </a:xfrm>
          <a:noFill/>
        </p:spPr>
        <p:txBody>
          <a:bodyPr vert="horz"/>
          <a:lstStyle>
            <a:lvl1pPr algn="l">
              <a:defRPr sz="2000" b="0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dt" sz="half" idx="10"/>
          </p:nvPr>
        </p:nvSpPr>
        <p:spPr>
          <a:xfrm>
            <a:off x="228600" y="6477000"/>
            <a:ext cx="1600200" cy="304800"/>
          </a:xfrm>
        </p:spPr>
        <p:txBody>
          <a:bodyPr anchor="ctr"/>
          <a:lstStyle>
            <a:lvl1pPr algn="l">
              <a:defRPr>
                <a:solidFill>
                  <a:srgbClr val="A0A0A0"/>
                </a:solidFill>
              </a:defRPr>
            </a:lvl1pPr>
            <a:extLst/>
          </a:lstStyle>
          <a:p>
            <a:fld id="{5A8D346D-A53F-433C-9D37-45A337EA482C}" type="datetime1">
              <a:rPr lang="en-US" smtClean="0"/>
              <a:pPr/>
              <a:t>5/9/2023</a:t>
            </a:fld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11"/>
          </p:nvPr>
        </p:nvSpPr>
        <p:spPr>
          <a:xfrm>
            <a:off x="2705100" y="6477000"/>
            <a:ext cx="37338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extLst/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6477000" y="6477000"/>
            <a:ext cx="1021080" cy="304800"/>
          </a:xfrm>
        </p:spPr>
        <p:txBody>
          <a:bodyPr anchor="ctr"/>
          <a:lstStyle>
            <a:extLst/>
          </a:lstStyle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4645880"/>
            <a:ext cx="9144000" cy="27432"/>
          </a:xfrm>
          <a:prstGeom prst="rect">
            <a:avLst/>
          </a:prstGeom>
          <a:solidFill>
            <a:schemeClr val="accent4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-Up: 3 Left, 1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8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4416552" y="381000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 dirty="0"/>
          </a:p>
        </p:txBody>
      </p:sp>
      <p:sp>
        <p:nvSpPr>
          <p:cNvPr id="21" name="Rectangle 11"/>
          <p:cNvSpPr>
            <a:spLocks noGrp="1"/>
          </p:cNvSpPr>
          <p:nvPr>
            <p:ph sz="quarter" idx="15"/>
          </p:nvPr>
        </p:nvSpPr>
        <p:spPr>
          <a:xfrm>
            <a:off x="4416552" y="609600"/>
            <a:ext cx="3962400" cy="5638800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Rectangle 8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 dirty="0"/>
          </a:p>
        </p:txBody>
      </p:sp>
      <p:sp>
        <p:nvSpPr>
          <p:cNvPr id="10" name="Rectangle 11"/>
          <p:cNvSpPr>
            <a:spLocks noGrp="1"/>
          </p:cNvSpPr>
          <p:nvPr>
            <p:ph sz="quarter" idx="16"/>
          </p:nvPr>
        </p:nvSpPr>
        <p:spPr>
          <a:xfrm>
            <a:off x="304800" y="609600"/>
            <a:ext cx="3962400" cy="1728216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Rectangle 8"/>
          <p:cNvSpPr>
            <a:spLocks noGrp="1"/>
          </p:cNvSpPr>
          <p:nvPr>
            <p:ph type="body" sz="quarter" idx="17" hasCustomPrompt="1"/>
          </p:nvPr>
        </p:nvSpPr>
        <p:spPr>
          <a:xfrm>
            <a:off x="301752" y="234086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 dirty="0"/>
          </a:p>
        </p:txBody>
      </p:sp>
      <p:sp>
        <p:nvSpPr>
          <p:cNvPr id="14" name="Rectangle 11"/>
          <p:cNvSpPr>
            <a:spLocks noGrp="1"/>
          </p:cNvSpPr>
          <p:nvPr>
            <p:ph sz="quarter" idx="18"/>
          </p:nvPr>
        </p:nvSpPr>
        <p:spPr>
          <a:xfrm>
            <a:off x="301752" y="2569464"/>
            <a:ext cx="3962400" cy="1728216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Rectangle 8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4291584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 dirty="0"/>
          </a:p>
        </p:txBody>
      </p:sp>
      <p:sp>
        <p:nvSpPr>
          <p:cNvPr id="16" name="Rectangle 11"/>
          <p:cNvSpPr>
            <a:spLocks noGrp="1"/>
          </p:cNvSpPr>
          <p:nvPr>
            <p:ph sz="quarter" idx="20"/>
          </p:nvPr>
        </p:nvSpPr>
        <p:spPr>
          <a:xfrm>
            <a:off x="304800" y="4520184"/>
            <a:ext cx="3962400" cy="1728216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Rectangle 17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extLst/>
          </a:lstStyle>
          <a:p>
            <a:pPr algn="r"/>
            <a:fld id="{968C9C2A-D3B8-4543-8A47-F59C20C16D9A}" type="datetime1">
              <a:rPr lang="en-US" smtClean="0"/>
              <a:pPr algn="r"/>
              <a:t>5/9/2023</a:t>
            </a:fld>
            <a:endParaRPr lang="en-US" dirty="0"/>
          </a:p>
        </p:txBody>
      </p:sp>
      <p:sp>
        <p:nvSpPr>
          <p:cNvPr id="19" name="Rectangle 1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/>
          </a:p>
        </p:txBody>
      </p:sp>
      <p:sp>
        <p:nvSpPr>
          <p:cNvPr id="20" name="Rectangle 20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6" name="Rectangle 8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/>
          </a:p>
        </p:txBody>
      </p:sp>
      <p:sp>
        <p:nvSpPr>
          <p:cNvPr id="17" name="Rectangle 11"/>
          <p:cNvSpPr>
            <a:spLocks noGrp="1"/>
          </p:cNvSpPr>
          <p:nvPr>
            <p:ph sz="quarter" idx="15"/>
          </p:nvPr>
        </p:nvSpPr>
        <p:spPr>
          <a:xfrm>
            <a:off x="304800" y="609600"/>
            <a:ext cx="3962400" cy="2706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8" name="Rectangle 8"/>
          <p:cNvSpPr>
            <a:spLocks noGrp="1"/>
          </p:cNvSpPr>
          <p:nvPr>
            <p:ph type="body" sz="quarter" idx="16" hasCustomPrompt="1"/>
          </p:nvPr>
        </p:nvSpPr>
        <p:spPr>
          <a:xfrm>
            <a:off x="3017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/>
          </a:p>
        </p:txBody>
      </p:sp>
      <p:sp>
        <p:nvSpPr>
          <p:cNvPr id="20" name="Rectangle 11"/>
          <p:cNvSpPr>
            <a:spLocks noGrp="1"/>
          </p:cNvSpPr>
          <p:nvPr>
            <p:ph sz="quarter" idx="17"/>
          </p:nvPr>
        </p:nvSpPr>
        <p:spPr>
          <a:xfrm>
            <a:off x="301752" y="3547872"/>
            <a:ext cx="3965448" cy="2706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1" name="Rectangle 8"/>
          <p:cNvSpPr>
            <a:spLocks noGrp="1"/>
          </p:cNvSpPr>
          <p:nvPr>
            <p:ph type="body" sz="quarter" idx="18" hasCustomPrompt="1"/>
          </p:nvPr>
        </p:nvSpPr>
        <p:spPr>
          <a:xfrm>
            <a:off x="4419600" y="381000"/>
            <a:ext cx="3962400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/>
          </a:p>
        </p:txBody>
      </p:sp>
      <p:sp>
        <p:nvSpPr>
          <p:cNvPr id="24" name="Rectangle 11"/>
          <p:cNvSpPr>
            <a:spLocks noGrp="1"/>
          </p:cNvSpPr>
          <p:nvPr>
            <p:ph sz="quarter" idx="19"/>
          </p:nvPr>
        </p:nvSpPr>
        <p:spPr>
          <a:xfrm>
            <a:off x="4419600" y="609600"/>
            <a:ext cx="3962400" cy="2706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5" name="Rectangle 8"/>
          <p:cNvSpPr>
            <a:spLocks noGrp="1"/>
          </p:cNvSpPr>
          <p:nvPr>
            <p:ph type="body" sz="quarter" idx="20" hasCustomPrompt="1"/>
          </p:nvPr>
        </p:nvSpPr>
        <p:spPr>
          <a:xfrm>
            <a:off x="4416552" y="3319272"/>
            <a:ext cx="3965448" cy="228600"/>
          </a:xfrm>
          <a:solidFill>
            <a:schemeClr val="accent6">
              <a:shade val="75000"/>
            </a:schemeClr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extLst/>
          </a:lstStyle>
          <a:p>
            <a:pPr lvl="0"/>
            <a:r>
              <a:rPr lang="en-US" dirty="0" smtClean="0"/>
              <a:t>Click to add heading</a:t>
            </a:r>
            <a:endParaRPr lang="en-US"/>
          </a:p>
        </p:txBody>
      </p:sp>
      <p:sp>
        <p:nvSpPr>
          <p:cNvPr id="26" name="Rectangle 11"/>
          <p:cNvSpPr>
            <a:spLocks noGrp="1"/>
          </p:cNvSpPr>
          <p:nvPr>
            <p:ph sz="quarter" idx="21"/>
          </p:nvPr>
        </p:nvSpPr>
        <p:spPr>
          <a:xfrm>
            <a:off x="4416552" y="3547872"/>
            <a:ext cx="3965448" cy="2706624"/>
          </a:xfrm>
        </p:spPr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3" name="Rectangle 23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extLst/>
          </a:lstStyle>
          <a:p>
            <a:pPr algn="r"/>
            <a:fld id="{CBEC585F-C108-48D6-9331-6628A0FBB73B}" type="datetime1">
              <a:rPr lang="en-US" smtClean="0"/>
              <a:pPr algn="r"/>
              <a:t>5/9/2023</a:t>
            </a:fld>
            <a:endParaRPr lang="en-US"/>
          </a:p>
        </p:txBody>
      </p:sp>
      <p:sp>
        <p:nvSpPr>
          <p:cNvPr id="27" name="Rectangle 2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extLst/>
          </a:lstStyle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/>
          </a:p>
        </p:txBody>
      </p:sp>
      <p:sp>
        <p:nvSpPr>
          <p:cNvPr id="28" name="Rectangle 28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CD717AA-EA39-47F3-8A0A-15B3575EDB53}" type="datetime1">
              <a:rPr lang="en-US" smtClean="0"/>
              <a:pPr algn="r"/>
              <a:t>5/9/2023</a:t>
            </a:fld>
            <a:endParaRPr lang="en-US" sz="1000" dirty="0">
              <a:solidFill>
                <a:schemeClr val="tx1">
                  <a:tint val="6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256D3EEF-DE4E-429D-8EC4-DDC531AFF587}" type="slidenum">
              <a:rPr lang="en-US" sz="1000" smtClean="0"/>
              <a:pPr algn="r"/>
              <a:t>‹#›</a:t>
            </a:fld>
            <a:endParaRPr lang="en-US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14282" y="1643050"/>
            <a:ext cx="892971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Bell MT" pitchFamily="18" charset="0"/>
              </a:rPr>
              <a:t>COURSE NAME                      :  BLOCKCHAIN DEVELOPMENT.</a:t>
            </a:r>
          </a:p>
          <a:p>
            <a:endParaRPr lang="en-US" sz="2000" dirty="0" smtClean="0">
              <a:latin typeface="Bell MT" pitchFamily="18" charset="0"/>
            </a:endParaRPr>
          </a:p>
          <a:p>
            <a:r>
              <a:rPr lang="en-US" sz="2000" dirty="0" smtClean="0">
                <a:latin typeface="Bell MT" pitchFamily="18" charset="0"/>
              </a:rPr>
              <a:t>GROUP NUMBER                  : </a:t>
            </a:r>
            <a:r>
              <a:rPr lang="en-US" sz="2000" dirty="0" smtClean="0">
                <a:latin typeface="Bodoni MT" pitchFamily="18" charset="0"/>
              </a:rPr>
              <a:t>002.</a:t>
            </a:r>
          </a:p>
          <a:p>
            <a:endParaRPr lang="en-US" sz="2000" dirty="0" smtClean="0">
              <a:latin typeface="Bell MT" pitchFamily="18" charset="0"/>
            </a:endParaRPr>
          </a:p>
          <a:p>
            <a:r>
              <a:rPr lang="en-US" sz="2000" dirty="0" smtClean="0">
                <a:latin typeface="Bell MT" pitchFamily="18" charset="0"/>
              </a:rPr>
              <a:t>PROJECT TITLE                    :  BLOCK CHAIN IN HELPING FARMERS</a:t>
            </a:r>
          </a:p>
          <a:p>
            <a:r>
              <a:rPr lang="en-US" sz="2000" dirty="0" smtClean="0">
                <a:latin typeface="Bell MT" pitchFamily="18" charset="0"/>
              </a:rPr>
              <a:t>.      .                                                      </a:t>
            </a:r>
          </a:p>
          <a:p>
            <a:r>
              <a:rPr lang="en-US" sz="2000" dirty="0" smtClean="0">
                <a:latin typeface="Bell MT" pitchFamily="18" charset="0"/>
              </a:rPr>
              <a:t>PROJECT SUBMITTED TO  :ANNA UNIVERSITY / NAAN </a:t>
            </a:r>
            <a:r>
              <a:rPr lang="en-US" sz="2000" dirty="0" smtClean="0">
                <a:latin typeface="Bell MT" pitchFamily="18" charset="0"/>
              </a:rPr>
              <a:t>MUDHALAVAN                                                                                  </a:t>
            </a:r>
            <a:endParaRPr lang="en-US" sz="2000" dirty="0" smtClean="0">
              <a:latin typeface="Bell MT" pitchFamily="18" charset="0"/>
            </a:endParaRPr>
          </a:p>
          <a:p>
            <a:r>
              <a:rPr lang="en-US" sz="2000" dirty="0" smtClean="0">
                <a:latin typeface="Bell MT" pitchFamily="18" charset="0"/>
              </a:rPr>
              <a:t>YEAR                                         : </a:t>
            </a:r>
            <a:r>
              <a:rPr lang="en-US" sz="2000" dirty="0" err="1" smtClean="0">
                <a:latin typeface="Bell MT" pitchFamily="18" charset="0"/>
              </a:rPr>
              <a:t>ll</a:t>
            </a:r>
            <a:r>
              <a:rPr lang="en-US" sz="2000" baseline="30000" dirty="0" err="1" smtClean="0">
                <a:latin typeface="Bell MT" pitchFamily="18" charset="0"/>
              </a:rPr>
              <a:t>ND</a:t>
            </a:r>
            <a:r>
              <a:rPr lang="en-US" sz="2000" dirty="0" smtClean="0">
                <a:latin typeface="Bell MT" pitchFamily="18" charset="0"/>
              </a:rPr>
              <a:t> YEAR.</a:t>
            </a:r>
          </a:p>
          <a:p>
            <a:endParaRPr lang="en-US" sz="2000" dirty="0" smtClean="0">
              <a:latin typeface="Bell MT" pitchFamily="18" charset="0"/>
            </a:endParaRPr>
          </a:p>
          <a:p>
            <a:r>
              <a:rPr lang="en-US" sz="2000" dirty="0" smtClean="0">
                <a:latin typeface="Bell MT" pitchFamily="18" charset="0"/>
              </a:rPr>
              <a:t>DEPARTMENT   </a:t>
            </a:r>
            <a:r>
              <a:rPr lang="en-US" sz="2000" b="1" dirty="0" smtClean="0">
                <a:latin typeface="Bell MT" pitchFamily="18" charset="0"/>
              </a:rPr>
              <a:t>                    :BE(CSE)</a:t>
            </a:r>
            <a:endParaRPr lang="en-US" sz="2000" dirty="0" smtClean="0">
              <a:latin typeface="Bell MT" pitchFamily="18" charset="0"/>
            </a:endParaRPr>
          </a:p>
          <a:p>
            <a:r>
              <a:rPr lang="en-US" sz="2000" dirty="0" smtClean="0">
                <a:latin typeface="Bell MT" pitchFamily="18" charset="0"/>
              </a:rPr>
              <a:t>SEMESTER                               : IV </a:t>
            </a:r>
            <a:r>
              <a:rPr lang="en-US" sz="2000" dirty="0" smtClean="0">
                <a:latin typeface="Bell MT" pitchFamily="18" charset="0"/>
              </a:rPr>
              <a:t>SEMESTER</a:t>
            </a:r>
          </a:p>
          <a:p>
            <a:r>
              <a:rPr lang="en-US" sz="2000" dirty="0" smtClean="0">
                <a:latin typeface="Bell MT" pitchFamily="18" charset="0"/>
              </a:rPr>
              <a:t>GROUP MEMBERS                  </a:t>
            </a:r>
            <a:r>
              <a:rPr lang="en-US" sz="2000" dirty="0" smtClean="0">
                <a:latin typeface="Bell MT" pitchFamily="18" charset="0"/>
              </a:rPr>
              <a:t>: R.DHINESH KUMAR(CSE),</a:t>
            </a:r>
          </a:p>
          <a:p>
            <a:r>
              <a:rPr lang="en-US" sz="2000" dirty="0" smtClean="0">
                <a:latin typeface="Bell MT" pitchFamily="18" charset="0"/>
              </a:rPr>
              <a:t>                                                       S.BOOPALAN(ECE</a:t>
            </a:r>
            <a:r>
              <a:rPr lang="en-US" sz="2000" dirty="0" smtClean="0">
                <a:latin typeface="Bell MT" pitchFamily="18" charset="0"/>
              </a:rPr>
              <a:t>),R.MURUGAN(ECE</a:t>
            </a:r>
            <a:r>
              <a:rPr lang="en-US" sz="2000" dirty="0" smtClean="0">
                <a:latin typeface="Bell MT" pitchFamily="18" charset="0"/>
              </a:rPr>
              <a:t>).</a:t>
            </a:r>
          </a:p>
          <a:p>
            <a:endParaRPr lang="en-US" sz="2000" dirty="0" smtClean="0">
              <a:latin typeface="Bell MT" pitchFamily="18" charset="0"/>
            </a:endParaRPr>
          </a:p>
          <a:p>
            <a:r>
              <a:rPr lang="en-US" sz="2000" dirty="0" smtClean="0">
                <a:latin typeface="Bell MT" pitchFamily="18" charset="0"/>
              </a:rPr>
              <a:t>GUIDED BY                            </a:t>
            </a:r>
            <a:r>
              <a:rPr lang="en-US" sz="2000" dirty="0" smtClean="0">
                <a:latin typeface="Bell MT" pitchFamily="18" charset="0"/>
              </a:rPr>
              <a:t>  :E.LAVANYA</a:t>
            </a:r>
            <a:r>
              <a:rPr lang="en-US" sz="2000" dirty="0" smtClean="0">
                <a:latin typeface="Bell MT" pitchFamily="18" charset="0"/>
              </a:rPr>
              <a:t>. </a:t>
            </a:r>
            <a:r>
              <a:rPr lang="en-US" sz="2000" dirty="0" smtClean="0">
                <a:latin typeface="Bell MT" pitchFamily="18" charset="0"/>
              </a:rPr>
              <a:t>AP/IT</a:t>
            </a:r>
          </a:p>
          <a:p>
            <a:r>
              <a:rPr lang="en-US" sz="2000" dirty="0" smtClean="0">
                <a:latin typeface="Bell MT" pitchFamily="18" charset="0"/>
              </a:rPr>
              <a:t>SPOC  </a:t>
            </a:r>
            <a:r>
              <a:rPr lang="en-US" sz="2000" dirty="0" smtClean="0">
                <a:latin typeface="Bell MT" pitchFamily="18" charset="0"/>
              </a:rPr>
              <a:t>NAME                           </a:t>
            </a:r>
            <a:r>
              <a:rPr lang="en-US" sz="2000" dirty="0" smtClean="0">
                <a:latin typeface="Bell MT" pitchFamily="18" charset="0"/>
              </a:rPr>
              <a:t>  :MR.DURAI </a:t>
            </a:r>
            <a:r>
              <a:rPr lang="en-US" sz="2000" dirty="0" smtClean="0">
                <a:latin typeface="Bell MT" pitchFamily="18" charset="0"/>
              </a:rPr>
              <a:t>KUMAR.HOD/IT </a:t>
            </a:r>
            <a:endParaRPr lang="en-US" sz="2000" dirty="0">
              <a:latin typeface="Bell MT" pitchFamily="18" charset="0"/>
            </a:endParaRPr>
          </a:p>
        </p:txBody>
      </p:sp>
      <p:pic>
        <p:nvPicPr>
          <p:cNvPr id="14" name="Picture 13" descr="logoo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34" y="428604"/>
            <a:ext cx="8029407" cy="928694"/>
          </a:xfrm>
          <a:prstGeom prst="rect">
            <a:avLst/>
          </a:prstGeom>
        </p:spPr>
      </p:pic>
      <p:pic>
        <p:nvPicPr>
          <p:cNvPr id="16" name="Picture 15" descr="download 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2" y="428604"/>
            <a:ext cx="1471614" cy="1064690"/>
          </a:xfrm>
          <a:prstGeom prst="rect">
            <a:avLst/>
          </a:prstGeom>
        </p:spPr>
      </p:pic>
      <p:pic>
        <p:nvPicPr>
          <p:cNvPr id="17" name="Picture 16" descr="gte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92" y="428604"/>
            <a:ext cx="1881192" cy="11525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ctrTitle"/>
          </p:nvPr>
        </p:nvSpPr>
        <p:spPr>
          <a:xfrm>
            <a:off x="714348" y="71414"/>
            <a:ext cx="7772400" cy="1975104"/>
          </a:xfrm>
        </p:spPr>
        <p:txBody>
          <a:bodyPr/>
          <a:lstStyle>
            <a:extLst/>
          </a:lstStyle>
          <a:p>
            <a:pPr algn="ctr"/>
            <a:r>
              <a:rPr lang="en-US" dirty="0" smtClean="0">
                <a:latin typeface="Baskerville Old Face" pitchFamily="18" charset="0"/>
              </a:rPr>
              <a:t>BLOCK </a:t>
            </a:r>
            <a:r>
              <a:rPr lang="en-US" dirty="0" smtClean="0">
                <a:latin typeface="Baskerville Old Face" pitchFamily="18" charset="0"/>
              </a:rPr>
              <a:t>CHAIN   </a:t>
            </a:r>
            <a:r>
              <a:rPr lang="en-US" dirty="0" smtClean="0">
                <a:latin typeface="Baskerville Old Face" pitchFamily="18" charset="0"/>
              </a:rPr>
              <a:t>IN HELPING   FARMERS</a:t>
            </a:r>
            <a:endParaRPr lang="en-US" dirty="0">
              <a:latin typeface="Baskerville Old Face" pitchFamily="18" charset="0"/>
            </a:endParaRPr>
          </a:p>
        </p:txBody>
      </p:sp>
      <p:sp>
        <p:nvSpPr>
          <p:cNvPr id="52226" name="AutoShape 2" descr="Blockchain Technology Explained | What is Blockchai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785926"/>
            <a:ext cx="6667500" cy="259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42910" y="4143380"/>
            <a:ext cx="7572428" cy="2357430"/>
          </a:xfrm>
        </p:spPr>
        <p:txBody>
          <a:bodyPr>
            <a:noAutofit/>
          </a:bodyPr>
          <a:lstStyle/>
          <a:p>
            <a:pPr algn="l"/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BY :</a:t>
            </a:r>
          </a:p>
          <a:p>
            <a:pPr algn="l"/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R.DHINESH KUMAR</a:t>
            </a:r>
          </a:p>
          <a:p>
            <a:pPr algn="l"/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BE(COMPUTER SCIENCE &amp; ENGINEERING</a:t>
            </a:r>
          </a:p>
          <a:p>
            <a:pPr algn="l"/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REG :Au510821104004</a:t>
            </a:r>
          </a:p>
          <a:p>
            <a:pPr algn="l"/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COLLEGE : GANADIPATHY TULSI’S JAIN ENGINEERING COLLEGE</a:t>
            </a:r>
          </a:p>
          <a:p>
            <a:pPr algn="l"/>
            <a:endParaRPr lang="en-IN" sz="2400" dirty="0" smtClean="0">
              <a:solidFill>
                <a:schemeClr val="tx1"/>
              </a:solidFill>
              <a:latin typeface="Bodoni MT" pitchFamily="18" charset="0"/>
            </a:endParaRPr>
          </a:p>
          <a:p>
            <a:pPr algn="l"/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   </a:t>
            </a:r>
            <a:endParaRPr lang="en-US" sz="2400" dirty="0">
              <a:solidFill>
                <a:schemeClr val="tx1"/>
              </a:solidFill>
              <a:latin typeface="Bodoni MT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/>
          <p:cNvSpPr>
            <a:spLocks noGrp="1"/>
          </p:cNvSpPr>
          <p:nvPr>
            <p:ph type="title"/>
          </p:nvPr>
        </p:nvSpPr>
        <p:spPr>
          <a:xfrm>
            <a:off x="357158" y="1785926"/>
            <a:ext cx="8286808" cy="4786346"/>
          </a:xfrm>
        </p:spPr>
        <p:txBody>
          <a:bodyPr>
            <a:normAutofit fontScale="90000"/>
          </a:bodyPr>
          <a:lstStyle>
            <a:extLst/>
          </a:lstStyle>
          <a:p>
            <a:pPr algn="l"/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INDRODUCTION :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           </a:t>
            </a:r>
            <a:r>
              <a:rPr lang="en-US" sz="2800" dirty="0" err="1" smtClean="0">
                <a:solidFill>
                  <a:schemeClr val="tx1"/>
                </a:solidFill>
                <a:latin typeface="Baskerville Old Face" pitchFamily="18" charset="0"/>
              </a:rPr>
              <a:t>Blockchain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are primarily administered  using  peer to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peer(p2p)computer 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network for use as public distributed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ledgers.</a:t>
            </a:r>
            <a:r>
              <a:rPr lang="en-US" sz="2800" dirty="0">
                <a:latin typeface="Baskerville Old Face" pitchFamily="18" charset="0"/>
              </a:rPr>
              <a:t/>
            </a:r>
            <a:br>
              <a:rPr lang="en-US" sz="2800" dirty="0">
                <a:latin typeface="Baskerville Old Face" pitchFamily="18" charset="0"/>
              </a:rPr>
            </a:br>
            <a:r>
              <a:rPr lang="en-US" sz="2800" dirty="0" smtClean="0">
                <a:latin typeface="Baskerville Old Face" pitchFamily="18" charset="0"/>
              </a:rPr>
              <a:t> </a:t>
            </a:r>
            <a:r>
              <a:rPr lang="en-US" sz="2800" dirty="0" smtClean="0">
                <a:latin typeface="Baskerville Old Face" pitchFamily="18" charset="0"/>
              </a:rPr>
              <a:t>         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To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add  and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validate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new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transaction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blocks, nodes cooperation according to a consensus algorithm protocol.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  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     </a:t>
            </a:r>
            <a:r>
              <a:rPr lang="en-US" sz="2800" dirty="0" err="1" smtClean="0">
                <a:solidFill>
                  <a:schemeClr val="tx1"/>
                </a:solidFill>
                <a:latin typeface="Baskerville Old Face" pitchFamily="18" charset="0"/>
              </a:rPr>
              <a:t>Blockchain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may regarded as safe by </a:t>
            </a:r>
            <a:r>
              <a:rPr lang="en-US" sz="2800" dirty="0" err="1" smtClean="0">
                <a:solidFill>
                  <a:schemeClr val="tx1"/>
                </a:solidFill>
                <a:latin typeface="Baskerville Old Face" pitchFamily="18" charset="0"/>
              </a:rPr>
              <a:t>desgin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and serve as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an a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distributed computing  system with strong .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        </a:t>
            </a:r>
            <a:r>
              <a:rPr lang="en-US" sz="2800" dirty="0" err="1" smtClean="0">
                <a:solidFill>
                  <a:schemeClr val="tx1"/>
                </a:solidFill>
                <a:latin typeface="Baskerville Old Face" pitchFamily="18" charset="0"/>
              </a:rPr>
              <a:t>Blockchain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record are not unchangeable and </a:t>
            </a:r>
            <a:r>
              <a:rPr lang="en-US" sz="2800" dirty="0" err="1" smtClean="0">
                <a:solidFill>
                  <a:schemeClr val="tx1"/>
                </a:solidFill>
                <a:latin typeface="Baskerville Old Face" pitchFamily="18" charset="0"/>
              </a:rPr>
              <a:t>blockchain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forks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are conceivable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       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        </a:t>
            </a:r>
            <a:endParaRPr lang="en-US" sz="2800" dirty="0">
              <a:solidFill>
                <a:schemeClr val="tx1"/>
              </a:solidFill>
              <a:latin typeface="Baskerville Old Face" pitchFamily="18" charset="0"/>
            </a:endParaRPr>
          </a:p>
        </p:txBody>
      </p:sp>
      <p:sp>
        <p:nvSpPr>
          <p:cNvPr id="2" name="Rectangle 3"/>
          <p:cNvSpPr>
            <a:spLocks noGrp="1"/>
          </p:cNvSpPr>
          <p:nvPr>
            <p:ph type="body" sz="quarter" idx="13"/>
          </p:nvPr>
        </p:nvSpPr>
        <p:spPr>
          <a:xfrm>
            <a:off x="571472" y="214290"/>
            <a:ext cx="8077200" cy="714380"/>
          </a:xfrm>
          <a:solidFill>
            <a:schemeClr val="tx1"/>
          </a:solidFill>
        </p:spPr>
        <p:txBody>
          <a:bodyPr>
            <a:normAutofit/>
          </a:bodyPr>
          <a:lstStyle>
            <a:extLst/>
          </a:lstStyle>
          <a:p>
            <a:pPr>
              <a:buNone/>
            </a:pPr>
            <a:r>
              <a:rPr lang="en-US" sz="4000" dirty="0" smtClean="0">
                <a:latin typeface="Bell MT" pitchFamily="18" charset="0"/>
              </a:rPr>
              <a:t>                   AGRI</a:t>
            </a:r>
            <a:endParaRPr lang="en-US" sz="4000" dirty="0">
              <a:latin typeface="Bell MT" pitchFamily="18" charset="0"/>
            </a:endParaRPr>
          </a:p>
        </p:txBody>
      </p:sp>
      <p:sp>
        <p:nvSpPr>
          <p:cNvPr id="5" name="5-Point Star 4"/>
          <p:cNvSpPr/>
          <p:nvPr/>
        </p:nvSpPr>
        <p:spPr>
          <a:xfrm>
            <a:off x="2372845" y="307903"/>
            <a:ext cx="428628" cy="357190"/>
          </a:xfrm>
          <a:prstGeom prst="star5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/>
          <p:cNvSpPr/>
          <p:nvPr/>
        </p:nvSpPr>
        <p:spPr>
          <a:xfrm>
            <a:off x="928662" y="2000240"/>
            <a:ext cx="285752" cy="21431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/>
          <p:cNvSpPr/>
          <p:nvPr/>
        </p:nvSpPr>
        <p:spPr>
          <a:xfrm>
            <a:off x="1000100" y="3143248"/>
            <a:ext cx="285752" cy="21431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928662" y="4214818"/>
            <a:ext cx="285752" cy="21431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5-Point Star 8"/>
          <p:cNvSpPr/>
          <p:nvPr/>
        </p:nvSpPr>
        <p:spPr>
          <a:xfrm>
            <a:off x="857224" y="5357826"/>
            <a:ext cx="285752" cy="21431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Remix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         </a:t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 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           OPEN 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chrome 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AND SEARCH REMIX ETHEREUM 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WEBSITE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 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        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 REMIX </a:t>
            </a: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PLAYS WELL TO OTHER TOOLS AND ALLOWS A SIMPLE DEPLOYMENT PROCESS TO THE CHAIN</a:t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  <a:t> </a:t>
            </a:r>
            <a:br>
              <a:rPr lang="en-IN" sz="2400" dirty="0" smtClean="0">
                <a:solidFill>
                  <a:schemeClr val="tx1">
                    <a:lumMod val="95000"/>
                  </a:schemeClr>
                </a:solidFill>
                <a:latin typeface="Bodoni MT" pitchFamily="18" charset="0"/>
              </a:rPr>
            </a:br>
            <a:endParaRPr lang="en-US" sz="2400" dirty="0">
              <a:solidFill>
                <a:schemeClr val="tx1">
                  <a:lumMod val="95000"/>
                </a:schemeClr>
              </a:solidFill>
              <a:latin typeface="Bodoni MT" pitchFamily="18" charset="0"/>
            </a:endParaRPr>
          </a:p>
        </p:txBody>
      </p:sp>
      <p:pic>
        <p:nvPicPr>
          <p:cNvPr id="1026" name="Picture 2" descr="C:\Users\GOLDEN\OneDrive\Pictures\7.3.23BG\2023-05-0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285728"/>
            <a:ext cx="6783279" cy="3615100"/>
          </a:xfrm>
          <a:prstGeom prst="rect">
            <a:avLst/>
          </a:prstGeom>
          <a:noFill/>
        </p:spPr>
      </p:pic>
      <p:sp>
        <p:nvSpPr>
          <p:cNvPr id="6" name="5-Point Star 5"/>
          <p:cNvSpPr/>
          <p:nvPr/>
        </p:nvSpPr>
        <p:spPr>
          <a:xfrm>
            <a:off x="500034" y="5786454"/>
            <a:ext cx="357191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/>
          <p:cNvSpPr/>
          <p:nvPr/>
        </p:nvSpPr>
        <p:spPr>
          <a:xfrm>
            <a:off x="571472" y="4714884"/>
            <a:ext cx="357191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0" name="AutoShape 2" descr="Blockchain Technology Explained | What is Blockchai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1000108"/>
            <a:ext cx="8786843" cy="5857892"/>
          </a:xfrm>
        </p:spPr>
        <p:txBody>
          <a:bodyPr>
            <a:normAutofit/>
          </a:bodyPr>
          <a:lstStyle>
            <a:extLst/>
          </a:lstStyle>
          <a:p>
            <a:pPr algn="l"/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      After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open the remix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IDE, create workspace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new and give the workspace name </a:t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    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Then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select on new file and chick on </a:t>
            </a:r>
            <a:r>
              <a:rPr lang="en-IN" sz="2400" dirty="0" err="1" smtClean="0">
                <a:solidFill>
                  <a:schemeClr val="tx1"/>
                </a:solidFill>
                <a:latin typeface="Baskerville Old Face" pitchFamily="18" charset="0"/>
              </a:rPr>
              <a:t>solity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to choose the environment</a:t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 </a:t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     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After create a new file , write the program for AGRI application for smart contract using the </a:t>
            </a:r>
            <a:r>
              <a:rPr lang="en-IN" sz="2400" dirty="0" err="1" smtClean="0">
                <a:solidFill>
                  <a:schemeClr val="tx1"/>
                </a:solidFill>
                <a:latin typeface="Baskerville Old Face" pitchFamily="18" charset="0"/>
              </a:rPr>
              <a:t>ethereum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</a:t>
            </a:r>
            <a:r>
              <a:rPr lang="en-IN" sz="2400" dirty="0" err="1" smtClean="0">
                <a:solidFill>
                  <a:schemeClr val="tx1"/>
                </a:solidFill>
                <a:latin typeface="Baskerville Old Face" pitchFamily="18" charset="0"/>
              </a:rPr>
              <a:t>blockchain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</a:t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</a:t>
            </a:r>
            <a:endParaRPr lang="en-US" sz="2400" dirty="0">
              <a:solidFill>
                <a:schemeClr val="tx1"/>
              </a:solidFill>
              <a:latin typeface="Baskerville Old Face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09" y="285728"/>
            <a:ext cx="8208000" cy="504000"/>
          </a:xfrm>
        </p:spPr>
        <p:txBody>
          <a:bodyPr>
            <a:normAutofit fontScale="92500" lnSpcReduction="1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6" name="5-Point Star 5"/>
          <p:cNvSpPr/>
          <p:nvPr/>
        </p:nvSpPr>
        <p:spPr>
          <a:xfrm>
            <a:off x="571472" y="2071678"/>
            <a:ext cx="357191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5-Point Star 6"/>
          <p:cNvSpPr/>
          <p:nvPr/>
        </p:nvSpPr>
        <p:spPr>
          <a:xfrm>
            <a:off x="642910" y="4286256"/>
            <a:ext cx="357191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571472" y="3214686"/>
            <a:ext cx="357191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pPr algn="l"/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TASK1	: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Create a </a:t>
            </a:r>
            <a:r>
              <a:rPr lang="en-IN" sz="2800" dirty="0" err="1" smtClean="0">
                <a:solidFill>
                  <a:schemeClr val="tx1"/>
                </a:solidFill>
                <a:latin typeface="Baskerville Old Face" pitchFamily="18" charset="0"/>
              </a:rPr>
              <a:t>Dapp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 in remix IDE</a:t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TASK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2	: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Start </a:t>
            </a:r>
            <a:r>
              <a:rPr lang="en-IN" sz="2800" dirty="0" err="1" smtClean="0">
                <a:solidFill>
                  <a:schemeClr val="tx1"/>
                </a:solidFill>
                <a:latin typeface="Baskerville Old Face" pitchFamily="18" charset="0"/>
              </a:rPr>
              <a:t>Metamask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 </a:t>
            </a:r>
            <a:r>
              <a:rPr lang="en-IN" sz="2800" dirty="0" err="1" smtClean="0">
                <a:solidFill>
                  <a:schemeClr val="tx1"/>
                </a:solidFill>
                <a:latin typeface="Baskerville Old Face" pitchFamily="18" charset="0"/>
              </a:rPr>
              <a:t>Blockchain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TASK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3	: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Connect remix IDE to </a:t>
            </a:r>
            <a:r>
              <a:rPr lang="en-IN" sz="2800" dirty="0" err="1" smtClean="0">
                <a:solidFill>
                  <a:schemeClr val="tx1"/>
                </a:solidFill>
                <a:latin typeface="Baskerville Old Face" pitchFamily="18" charset="0"/>
              </a:rPr>
              <a:t>Metamask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         </a:t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TASK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4	: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Deploy </a:t>
            </a:r>
            <a:r>
              <a:rPr lang="en-IN" sz="2800" dirty="0" err="1" smtClean="0">
                <a:solidFill>
                  <a:schemeClr val="tx1"/>
                </a:solidFill>
                <a:latin typeface="Baskerville Old Face" pitchFamily="18" charset="0"/>
              </a:rPr>
              <a:t>dapp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 to </a:t>
            </a:r>
            <a:r>
              <a:rPr lang="en-IN" sz="2800" dirty="0" err="1" smtClean="0">
                <a:solidFill>
                  <a:schemeClr val="tx1"/>
                </a:solidFill>
                <a:latin typeface="Baskerville Old Face" pitchFamily="18" charset="0"/>
              </a:rPr>
              <a:t>metmask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 and test the </a:t>
            </a:r>
            <a:r>
              <a:rPr lang="en-IN" sz="2800" dirty="0" err="1" smtClean="0">
                <a:solidFill>
                  <a:schemeClr val="tx1"/>
                </a:solidFill>
                <a:latin typeface="Baskerville Old Face" pitchFamily="18" charset="0"/>
              </a:rPr>
              <a:t>funcation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TASK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5	: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Interact with block and check the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functionalities </a:t>
            </a:r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along with the gas deduction</a:t>
            </a:r>
            <a:endParaRPr lang="en-US" sz="2800" dirty="0">
              <a:solidFill>
                <a:schemeClr val="tx1"/>
              </a:solidFill>
              <a:latin typeface="Baskerville Old Face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TASK </a:t>
            </a:r>
            <a:r>
              <a:rPr lang="en-IN" dirty="0" smtClean="0">
                <a:latin typeface="Bernard MT Condensed" pitchFamily="18" charset="0"/>
              </a:rPr>
              <a:t>:</a:t>
            </a:r>
            <a:endParaRPr lang="en-US" dirty="0">
              <a:latin typeface="Bernard MT Condense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r>
              <a:rPr lang="en-IN" sz="2400" dirty="0" smtClean="0">
                <a:latin typeface="Bodoni MT" pitchFamily="18" charset="0"/>
              </a:rPr>
              <a:t/>
            </a:r>
            <a:br>
              <a:rPr lang="en-IN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>  </a:t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>      </a:t>
            </a: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>
                <a:latin typeface="Bodoni MT" pitchFamily="18" charset="0"/>
              </a:rPr>
              <a:t> </a:t>
            </a:r>
            <a:r>
              <a:rPr lang="en-US" sz="2400" dirty="0" smtClean="0">
                <a:latin typeface="Bodoni MT" pitchFamily="18" charset="0"/>
              </a:rPr>
              <a:t>        </a:t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>
                <a:latin typeface="Bodoni MT" pitchFamily="18" charset="0"/>
              </a:rPr>
              <a:t> </a:t>
            </a:r>
            <a:r>
              <a:rPr lang="en-US" sz="2400" dirty="0" smtClean="0">
                <a:latin typeface="Bodoni MT" pitchFamily="18" charset="0"/>
              </a:rPr>
              <a:t>         </a:t>
            </a:r>
            <a:r>
              <a:rPr lang="en-US" sz="2400" dirty="0" smtClean="0">
                <a:latin typeface="Bodoni MT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write a program in a code section and click compiler button under the compiler window to compile the contract</a:t>
            </a:r>
            <a:endParaRPr lang="en-US" sz="2400" dirty="0">
              <a:latin typeface="Bodoni MT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071546"/>
            <a:ext cx="8358247" cy="37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-Point Star 5"/>
          <p:cNvSpPr/>
          <p:nvPr/>
        </p:nvSpPr>
        <p:spPr>
          <a:xfrm>
            <a:off x="714348" y="5143512"/>
            <a:ext cx="428628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 fontScale="90000"/>
          </a:bodyPr>
          <a:lstStyle>
            <a:extLst/>
          </a:lstStyle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09" y="1000108"/>
            <a:ext cx="8215371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877" y="1000109"/>
            <a:ext cx="8215403" cy="5657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3" y="900114"/>
            <a:ext cx="8215371" cy="5743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1" y="876300"/>
            <a:ext cx="8143932" cy="569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.</a:t>
            </a:r>
            <a:endParaRPr lang="en-US" sz="2400" dirty="0">
              <a:solidFill>
                <a:schemeClr val="tx1"/>
              </a:solidFill>
              <a:latin typeface="Bodoni MT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5-Point Star 3"/>
          <p:cNvSpPr/>
          <p:nvPr/>
        </p:nvSpPr>
        <p:spPr>
          <a:xfrm>
            <a:off x="785786" y="1142984"/>
            <a:ext cx="428628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000240"/>
            <a:ext cx="8358247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357290" y="1142984"/>
            <a:ext cx="72152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Bodoni MT" pitchFamily="18" charset="0"/>
              </a:rPr>
              <a:t>Then Compile the program and choose the  environment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158" y="1142984"/>
            <a:ext cx="85725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Bodoni MT" pitchFamily="18" charset="0"/>
              </a:rPr>
              <a:t>After compiling program , then deploy the  </a:t>
            </a:r>
            <a:r>
              <a:rPr lang="en-IN" sz="2400" dirty="0" smtClean="0">
                <a:latin typeface="Bodoni MT" pitchFamily="18" charset="0"/>
              </a:rPr>
              <a:t>it</a:t>
            </a: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  <a:p>
            <a:endParaRPr lang="en-IN" sz="2400" dirty="0" smtClean="0">
              <a:latin typeface="Bodoni MT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000240"/>
            <a:ext cx="8358246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pPr algn="l"/>
            <a:r>
              <a:rPr lang="en-IN" sz="2800" dirty="0">
                <a:latin typeface="Baskerville Old Face" pitchFamily="18" charset="0"/>
              </a:rPr>
              <a:t> </a:t>
            </a:r>
            <a:r>
              <a:rPr lang="en-IN" sz="2800" dirty="0" smtClean="0">
                <a:latin typeface="Baskerville Old Face" pitchFamily="18" charset="0"/>
              </a:rPr>
              <a:t>           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After 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deploy ,now 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check the corresponding 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transaction record will 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show now(</a:t>
            </a:r>
            <a:r>
              <a:rPr lang="en-US" sz="2800" dirty="0" err="1" smtClean="0">
                <a:solidFill>
                  <a:schemeClr val="tx1"/>
                </a:solidFill>
                <a:latin typeface="Baskerville Old Face" pitchFamily="18" charset="0"/>
              </a:rPr>
              <a:t>agri</a:t>
            </a:r>
            <a: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  <a:t>)</a:t>
            </a:r>
            <a:br>
              <a:rPr lang="en-US" sz="2800" dirty="0" smtClean="0">
                <a:solidFill>
                  <a:schemeClr val="tx1"/>
                </a:solidFill>
                <a:latin typeface="Baskerville Old Face" pitchFamily="18" charset="0"/>
              </a:rPr>
            </a:br>
            <a:endParaRPr lang="en-US" sz="2800" dirty="0">
              <a:solidFill>
                <a:schemeClr val="tx1"/>
              </a:solidFill>
              <a:latin typeface="Baskerville Old Face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09" y="1142984"/>
            <a:ext cx="7643867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2" y="2285992"/>
            <a:ext cx="3933825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-Point Star 5"/>
          <p:cNvSpPr/>
          <p:nvPr/>
        </p:nvSpPr>
        <p:spPr>
          <a:xfrm>
            <a:off x="714348" y="2857496"/>
            <a:ext cx="428628" cy="3571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4572008"/>
            <a:ext cx="4143404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 fontScale="90000"/>
          </a:bodyPr>
          <a:lstStyle>
            <a:extLst/>
          </a:lstStyle>
          <a:p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    </a:t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      </a:t>
            </a: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            </a:t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>
                <a:latin typeface="Bodoni MT" pitchFamily="18" charset="0"/>
              </a:rPr>
              <a:t/>
            </a:r>
            <a:br>
              <a:rPr lang="en-US" sz="2800" dirty="0"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Now </a:t>
            </a: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open the </a:t>
            </a: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add Deal </a:t>
            </a: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in </a:t>
            </a:r>
            <a:r>
              <a:rPr lang="en-US" sz="2800" dirty="0" err="1" smtClean="0">
                <a:solidFill>
                  <a:schemeClr val="tx1"/>
                </a:solidFill>
                <a:latin typeface="Bodoni MT" pitchFamily="18" charset="0"/>
              </a:rPr>
              <a:t>transcation</a:t>
            </a: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 </a:t>
            </a:r>
            <a:r>
              <a:rPr lang="en-US" sz="2800" dirty="0" err="1" smtClean="0">
                <a:solidFill>
                  <a:schemeClr val="tx1"/>
                </a:solidFill>
                <a:latin typeface="Bodoni MT" pitchFamily="18" charset="0"/>
              </a:rPr>
              <a:t>recard</a:t>
            </a: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  </a:t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     </a:t>
            </a:r>
            <a:b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800" dirty="0" smtClean="0">
                <a:solidFill>
                  <a:schemeClr val="tx1"/>
                </a:solidFill>
                <a:latin typeface="Bodoni MT" pitchFamily="18" charset="0"/>
              </a:rPr>
              <a:t> </a:t>
            </a:r>
            <a:endParaRPr lang="en-US" sz="2800" dirty="0">
              <a:solidFill>
                <a:schemeClr val="tx1"/>
              </a:solidFill>
              <a:latin typeface="Bodoni MT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1000108"/>
            <a:ext cx="7715304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5-Point Star 6"/>
          <p:cNvSpPr/>
          <p:nvPr/>
        </p:nvSpPr>
        <p:spPr>
          <a:xfrm>
            <a:off x="1071538" y="5857892"/>
            <a:ext cx="428628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pPr algn="l"/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      Address </a:t>
            </a:r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will be </a:t>
            </a:r>
            <a:b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taken in deploy &amp; </a:t>
            </a:r>
            <a:b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run </a:t>
            </a:r>
            <a:r>
              <a:rPr lang="en-IN" sz="2800" dirty="0" err="1" smtClean="0">
                <a:solidFill>
                  <a:schemeClr val="tx1"/>
                </a:solidFill>
                <a:latin typeface="Bodoni MT" pitchFamily="18" charset="0"/>
              </a:rPr>
              <a:t>transcation</a:t>
            </a:r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 in </a:t>
            </a:r>
            <a:b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account address will</a:t>
            </a:r>
            <a:b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 be copy and paste </a:t>
            </a:r>
            <a:b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IN" sz="2800" dirty="0" smtClean="0">
                <a:solidFill>
                  <a:schemeClr val="tx1"/>
                </a:solidFill>
                <a:latin typeface="Bodoni MT" pitchFamily="18" charset="0"/>
              </a:rPr>
              <a:t>in customer address</a:t>
            </a:r>
            <a:endParaRPr lang="en-US" sz="2800" dirty="0">
              <a:solidFill>
                <a:schemeClr val="tx1"/>
              </a:solidFill>
              <a:latin typeface="Bodoni MT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928670"/>
            <a:ext cx="4619625" cy="5529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-Point Star 5"/>
          <p:cNvSpPr/>
          <p:nvPr/>
        </p:nvSpPr>
        <p:spPr>
          <a:xfrm>
            <a:off x="500034" y="2571744"/>
            <a:ext cx="357191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  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 AFTER FILL THE INFORMATION THEN TRANSACT IT.</a:t>
            </a:r>
            <a:endParaRPr lang="en-US" sz="2400" dirty="0">
              <a:solidFill>
                <a:schemeClr val="tx1"/>
              </a:solidFill>
              <a:latin typeface="Bodoni MT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071546"/>
            <a:ext cx="685804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pPr algn="l"/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</a:t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 </a:t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     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/>
            </a:r>
            <a:b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</a:br>
            <a:r>
              <a:rPr lang="en-IN" sz="2400" dirty="0">
                <a:latin typeface="Baskerville Old Face" pitchFamily="18" charset="0"/>
              </a:rPr>
              <a:t> </a:t>
            </a:r>
            <a:r>
              <a:rPr lang="en-IN" sz="2400" dirty="0" smtClean="0">
                <a:latin typeface="Baskerville Old Face" pitchFamily="18" charset="0"/>
              </a:rPr>
              <a:t>               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Given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information are taken , then  can the DEBUG will be green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TICK </a:t>
            </a:r>
            <a:r>
              <a:rPr lang="en-IN" sz="2400" dirty="0" smtClean="0">
                <a:solidFill>
                  <a:schemeClr val="tx1"/>
                </a:solidFill>
                <a:latin typeface="Baskerville Old Face" pitchFamily="18" charset="0"/>
              </a:rPr>
              <a:t>else some mistake will be presented .</a:t>
            </a:r>
            <a:endParaRPr lang="en-US" sz="2400" dirty="0">
              <a:solidFill>
                <a:schemeClr val="tx1"/>
              </a:solidFill>
              <a:latin typeface="Baskerville Old Face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1857364"/>
            <a:ext cx="8167683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5-Point Star 6"/>
          <p:cNvSpPr/>
          <p:nvPr/>
        </p:nvSpPr>
        <p:spPr>
          <a:xfrm>
            <a:off x="785786" y="4071942"/>
            <a:ext cx="357190" cy="28575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pPr algn="l"/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 </a:t>
            </a:r>
            <a:b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IN" sz="2400" dirty="0" smtClean="0">
                <a:solidFill>
                  <a:schemeClr val="tx1"/>
                </a:solidFill>
                <a:latin typeface="Bodoni MT" pitchFamily="18" charset="0"/>
              </a:rPr>
              <a:t>STEP 1: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    Open the deployed contract.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STEP 2: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    Give the address both farmer and deals 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STEP 3: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    Fill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o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ne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by one without any unwanted mistake in contract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STEP 4:</a:t>
            </a:r>
            <a:b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     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Complete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the over all information like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add Deal , add Farmer , add Produce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,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get Deal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and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get Produce </a:t>
            </a:r>
            <a:r>
              <a:rPr lang="en-US" sz="2400" dirty="0" smtClean="0">
                <a:solidFill>
                  <a:schemeClr val="tx1"/>
                </a:solidFill>
                <a:latin typeface="Bodoni MT" pitchFamily="18" charset="0"/>
              </a:rPr>
              <a:t>and finally select the </a:t>
            </a:r>
            <a:r>
              <a:rPr lang="en-US" sz="2400" dirty="0" err="1" smtClean="0">
                <a:solidFill>
                  <a:schemeClr val="tx1"/>
                </a:solidFill>
                <a:latin typeface="Bodoni MT" pitchFamily="18" charset="0"/>
              </a:rPr>
              <a:t>transcat</a:t>
            </a:r>
            <a:endParaRPr lang="en-US" sz="2400" dirty="0">
              <a:solidFill>
                <a:schemeClr val="tx1"/>
              </a:solidFill>
              <a:latin typeface="Bodoni MT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pPr>
              <a:buNone/>
            </a:pPr>
            <a:r>
              <a:rPr lang="en-IN" dirty="0" smtClean="0">
                <a:latin typeface="Baskerville Old Face" pitchFamily="18" charset="0"/>
              </a:rPr>
              <a:t>STEP  TO  DEPLOYED CONTRACTS  </a:t>
            </a:r>
            <a:r>
              <a:rPr lang="en-IN" dirty="0" smtClean="0">
                <a:latin typeface="Algerian" pitchFamily="82" charset="0"/>
              </a:rPr>
              <a:t>:</a:t>
            </a:r>
            <a:endParaRPr lang="en-US" dirty="0"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28597" y="1071546"/>
            <a:ext cx="8715404" cy="5786454"/>
          </a:xfrm>
        </p:spPr>
        <p:txBody>
          <a:bodyPr>
            <a:normAutofit/>
          </a:bodyPr>
          <a:lstStyle/>
          <a:p>
            <a:pPr algn="l"/>
            <a:r>
              <a:rPr lang="en-IN" sz="2400" dirty="0" smtClean="0">
                <a:latin typeface="Bodoni MT" pitchFamily="18" charset="0"/>
              </a:rPr>
              <a:t/>
            </a:r>
            <a:br>
              <a:rPr lang="en-IN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>                    </a:t>
            </a:r>
            <a:r>
              <a:rPr lang="en-US" sz="2400" dirty="0" smtClean="0">
                <a:latin typeface="Bodoni MT" pitchFamily="18" charset="0"/>
              </a:rPr>
              <a:t/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>
                <a:latin typeface="Bodoni MT" pitchFamily="18" charset="0"/>
              </a:rPr>
              <a:t/>
            </a:r>
            <a:br>
              <a:rPr lang="en-US" sz="2400" dirty="0">
                <a:latin typeface="Bodoni MT" pitchFamily="18" charset="0"/>
              </a:rPr>
            </a:br>
            <a:r>
              <a:rPr lang="en-US" sz="2400" dirty="0" smtClean="0">
                <a:latin typeface="Bodoni MT" pitchFamily="18" charset="0"/>
              </a:rPr>
              <a:t>                        </a:t>
            </a:r>
            <a:br>
              <a:rPr lang="en-US" sz="2400" dirty="0" smtClean="0">
                <a:latin typeface="Bodoni MT" pitchFamily="18" charset="0"/>
              </a:rPr>
            </a:br>
            <a:r>
              <a:rPr lang="en-US" sz="2400" dirty="0">
                <a:latin typeface="Bodoni MT" pitchFamily="18" charset="0"/>
              </a:rPr>
              <a:t> </a:t>
            </a:r>
            <a:r>
              <a:rPr lang="en-US" sz="2400" dirty="0" smtClean="0">
                <a:latin typeface="Bodoni MT" pitchFamily="18" charset="0"/>
              </a:rPr>
              <a:t>                        </a:t>
            </a:r>
            <a:r>
              <a:rPr lang="en-US" sz="2400" dirty="0" smtClean="0">
                <a:latin typeface="Bodoni MT" pitchFamily="18" charset="0"/>
              </a:rPr>
              <a:t> </a:t>
            </a:r>
            <a:r>
              <a:rPr lang="en-US" sz="2400" dirty="0" smtClean="0">
                <a:latin typeface="Bodoni MT" pitchFamily="18" charset="0"/>
              </a:rPr>
              <a:t>Confirm transaction details </a:t>
            </a:r>
            <a:r>
              <a:rPr lang="en-US" sz="2400" dirty="0" smtClean="0">
                <a:latin typeface="Bodoni MT" pitchFamily="18" charset="0"/>
              </a:rPr>
              <a:t>then </a:t>
            </a:r>
            <a:r>
              <a:rPr lang="en-US" sz="2400" dirty="0" smtClean="0">
                <a:latin typeface="Bodoni MT" pitchFamily="18" charset="0"/>
              </a:rPr>
              <a:t>deploy</a:t>
            </a:r>
            <a:endParaRPr lang="en-US" sz="2400" dirty="0">
              <a:latin typeface="Bodoni MT" pitchFamily="18" charset="0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928661" y="357166"/>
            <a:ext cx="7739091" cy="47623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>
              <a:latin typeface="Baskerville Old Face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071546"/>
            <a:ext cx="8286808" cy="4895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triped Right Arrow 5"/>
          <p:cNvSpPr/>
          <p:nvPr/>
        </p:nvSpPr>
        <p:spPr>
          <a:xfrm>
            <a:off x="1285852" y="6143644"/>
            <a:ext cx="1000132" cy="41319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1000109"/>
            <a:ext cx="8143900" cy="2286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3" y="4214818"/>
            <a:ext cx="8286808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214415" y="3286125"/>
            <a:ext cx="77153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Bodoni MT" pitchFamily="18" charset="0"/>
                <a:cs typeface="Arial" pitchFamily="34" charset="0"/>
              </a:rPr>
              <a:t> Now select the another account and paste in </a:t>
            </a:r>
            <a:br>
              <a:rPr lang="en-US" sz="2400" dirty="0" smtClean="0">
                <a:latin typeface="Bodoni MT" pitchFamily="18" charset="0"/>
                <a:cs typeface="Arial" pitchFamily="34" charset="0"/>
              </a:rPr>
            </a:br>
            <a:r>
              <a:rPr lang="en-US" sz="2400" dirty="0" smtClean="0">
                <a:latin typeface="Bodoni MT" pitchFamily="18" charset="0"/>
                <a:cs typeface="Arial" pitchFamily="34" charset="0"/>
              </a:rPr>
              <a:t>   recipient address</a:t>
            </a:r>
            <a:endParaRPr lang="en-US" sz="2400" dirty="0">
              <a:latin typeface="Bodoni MT" pitchFamily="18" charset="0"/>
              <a:cs typeface="Arial" pitchFamily="34" charset="0"/>
            </a:endParaRPr>
          </a:p>
        </p:txBody>
      </p:sp>
      <p:sp>
        <p:nvSpPr>
          <p:cNvPr id="7" name="5-Point Star 6"/>
          <p:cNvSpPr/>
          <p:nvPr/>
        </p:nvSpPr>
        <p:spPr>
          <a:xfrm>
            <a:off x="1000100" y="3429000"/>
            <a:ext cx="285752" cy="214314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357157" y="928670"/>
            <a:ext cx="8786843" cy="5929330"/>
          </a:xfrm>
        </p:spPr>
        <p:txBody>
          <a:bodyPr>
            <a:normAutofit/>
          </a:bodyPr>
          <a:lstStyle>
            <a:extLst/>
          </a:lstStyle>
          <a:p>
            <a:r>
              <a:rPr lang="en-IN" sz="2800" dirty="0" smtClean="0">
                <a:solidFill>
                  <a:schemeClr val="tx1"/>
                </a:solidFill>
                <a:latin typeface="Baskerville Old Face" pitchFamily="18" charset="0"/>
              </a:rPr>
              <a:t>  Deals information:</a:t>
            </a:r>
            <a:endParaRPr lang="en-US" sz="2800" dirty="0">
              <a:solidFill>
                <a:schemeClr val="tx1"/>
              </a:solidFill>
              <a:latin typeface="Baskerville Old Face" pitchFamily="18" charset="0"/>
            </a:endParaRPr>
          </a:p>
        </p:txBody>
      </p:sp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</a:t>
            </a:r>
            <a:r>
              <a:rPr lang="en-IN" dirty="0" smtClean="0">
                <a:latin typeface="Arial Black" pitchFamily="34" charset="0"/>
              </a:rPr>
              <a:t> 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2" y="1643050"/>
            <a:ext cx="8215369" cy="4660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/>
          </p:cNvSpPr>
          <p:nvPr>
            <p:ph type="body" sz="quarter" idx="13"/>
          </p:nvPr>
        </p:nvSpPr>
        <p:spPr>
          <a:xfrm>
            <a:off x="642910" y="285729"/>
            <a:ext cx="8143900" cy="500066"/>
          </a:xfrm>
        </p:spPr>
        <p:txBody>
          <a:bodyPr>
            <a:normAutofit fontScale="92500" lnSpcReduction="20000"/>
          </a:bodyPr>
          <a:lstStyle>
            <a:extLst/>
          </a:lstStyle>
          <a:p>
            <a:r>
              <a:rPr lang="en-IN" dirty="0" smtClean="0">
                <a:latin typeface="Baskerville Old Face" pitchFamily="18" charset="0"/>
              </a:rPr>
              <a:t>PROGRAM  RESULT</a:t>
            </a:r>
            <a:r>
              <a:rPr lang="en-IN" dirty="0" smtClean="0">
                <a:latin typeface="Arial Black" pitchFamily="34" charset="0"/>
              </a:rPr>
              <a:t>: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928671"/>
            <a:ext cx="5500727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928661" y="357166"/>
            <a:ext cx="7739091" cy="476232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>
                <a:latin typeface="Baskerville Old Face" pitchFamily="18" charset="0"/>
              </a:rPr>
              <a:t>CONNECT REMIX IDE TO  METAMAK</a:t>
            </a:r>
            <a:endParaRPr lang="en-US" dirty="0">
              <a:latin typeface="Baskerville Old Face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5" y="1214423"/>
            <a:ext cx="7286676" cy="5295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28597" y="1071546"/>
            <a:ext cx="8715404" cy="5786454"/>
          </a:xfrm>
        </p:spPr>
        <p:txBody>
          <a:bodyPr/>
          <a:lstStyle/>
          <a:p>
            <a:pPr algn="l"/>
            <a:r>
              <a:rPr lang="en-IN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IN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</a:t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</a:t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</a:t>
            </a: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    </a:t>
            </a: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Connected </a:t>
            </a: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to </a:t>
            </a:r>
            <a:r>
              <a:rPr lang="en-US" sz="3200" dirty="0" err="1" smtClean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metamask</a:t>
            </a:r>
            <a:endParaRPr lang="en-US" sz="3200" dirty="0">
              <a:solidFill>
                <a:schemeClr val="tx1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928661" y="357166"/>
            <a:ext cx="7739091" cy="47623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 smtClean="0">
                <a:latin typeface="Baskerville Old Face" pitchFamily="18" charset="0"/>
              </a:rPr>
              <a:t>  CONNECTING  WALLETS</a:t>
            </a:r>
            <a:endParaRPr lang="en-US" dirty="0">
              <a:latin typeface="Baskerville Old Face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7" y="1142985"/>
            <a:ext cx="5286412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5-Point Star 4"/>
          <p:cNvSpPr/>
          <p:nvPr/>
        </p:nvSpPr>
        <p:spPr>
          <a:xfrm>
            <a:off x="1857356" y="6215082"/>
            <a:ext cx="428628" cy="35719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858" y="1093562"/>
            <a:ext cx="2928959" cy="4905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4294967295"/>
          </p:nvPr>
        </p:nvSpPr>
        <p:spPr>
          <a:xfrm>
            <a:off x="1404938" y="285728"/>
            <a:ext cx="7739062" cy="47625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latin typeface="Baskerville Old Face" pitchFamily="18" charset="0"/>
              </a:rPr>
              <a:t>CONCLUSION :</a:t>
            </a:r>
            <a:endParaRPr lang="en-US" dirty="0">
              <a:latin typeface="Baskerville Old Face" pitchFamily="18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643314"/>
            <a:ext cx="3786215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3571876"/>
            <a:ext cx="4329115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85720" y="1071546"/>
            <a:ext cx="85725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Bodoni MT" pitchFamily="18" charset="0"/>
              </a:rPr>
              <a:t>                   We </a:t>
            </a:r>
            <a:r>
              <a:rPr lang="en-IN" sz="2400" dirty="0" smtClean="0">
                <a:latin typeface="Bodoni MT" pitchFamily="18" charset="0"/>
              </a:rPr>
              <a:t>implement a </a:t>
            </a:r>
            <a:r>
              <a:rPr lang="en-IN" sz="2400" dirty="0" err="1" smtClean="0">
                <a:latin typeface="Bodoni MT" pitchFamily="18" charset="0"/>
              </a:rPr>
              <a:t>blockchain</a:t>
            </a:r>
            <a:r>
              <a:rPr lang="en-IN" sz="2400" dirty="0" smtClean="0">
                <a:latin typeface="Bodoni MT" pitchFamily="18" charset="0"/>
              </a:rPr>
              <a:t>-based solution</a:t>
            </a:r>
            <a:br>
              <a:rPr lang="en-IN" sz="2400" dirty="0" smtClean="0">
                <a:latin typeface="Bodoni MT" pitchFamily="18" charset="0"/>
              </a:rPr>
            </a:br>
            <a:r>
              <a:rPr lang="en-IN" sz="2400" dirty="0" smtClean="0">
                <a:latin typeface="Bodoni MT" pitchFamily="18" charset="0"/>
              </a:rPr>
              <a:t>for inventory  sharing  </a:t>
            </a:r>
            <a:r>
              <a:rPr lang="en-IN" sz="2400" dirty="0" err="1" smtClean="0">
                <a:latin typeface="Bodoni MT" pitchFamily="18" charset="0"/>
              </a:rPr>
              <a:t>betweeen</a:t>
            </a:r>
            <a:r>
              <a:rPr lang="en-IN" sz="2400" dirty="0" smtClean="0">
                <a:latin typeface="Bodoni MT" pitchFamily="18" charset="0"/>
              </a:rPr>
              <a:t> retails and suppliers</a:t>
            </a:r>
            <a:br>
              <a:rPr lang="en-IN" sz="2400" dirty="0" smtClean="0">
                <a:latin typeface="Bodoni MT" pitchFamily="18" charset="0"/>
              </a:rPr>
            </a:br>
            <a:r>
              <a:rPr lang="en-IN" sz="2400" dirty="0" smtClean="0">
                <a:latin typeface="Bodoni MT" pitchFamily="18" charset="0"/>
              </a:rPr>
              <a:t>           </a:t>
            </a:r>
            <a:br>
              <a:rPr lang="en-IN" sz="2400" dirty="0" smtClean="0">
                <a:latin typeface="Bodoni MT" pitchFamily="18" charset="0"/>
              </a:rPr>
            </a:br>
            <a:r>
              <a:rPr lang="en-IN" sz="2400" dirty="0" smtClean="0">
                <a:latin typeface="Bodoni MT" pitchFamily="18" charset="0"/>
              </a:rPr>
              <a:t>            Our </a:t>
            </a:r>
            <a:r>
              <a:rPr lang="en-IN" sz="2400" dirty="0" err="1" smtClean="0">
                <a:latin typeface="Bodoni MT" pitchFamily="18" charset="0"/>
              </a:rPr>
              <a:t>propsed</a:t>
            </a:r>
            <a:r>
              <a:rPr lang="en-IN" sz="2400" dirty="0" smtClean="0">
                <a:latin typeface="Bodoni MT" pitchFamily="18" charset="0"/>
              </a:rPr>
              <a:t> solution captures the main interactions that take place between these stakeholders.</a:t>
            </a:r>
            <a:br>
              <a:rPr lang="en-IN" sz="2400" dirty="0" smtClean="0">
                <a:latin typeface="Bodoni MT" pitchFamily="18" charset="0"/>
              </a:rPr>
            </a:br>
            <a:r>
              <a:rPr lang="en-IN" sz="2400" dirty="0" smtClean="0">
                <a:latin typeface="Bodoni MT" pitchFamily="18" charset="0"/>
              </a:rPr>
              <a:t>       </a:t>
            </a:r>
            <a:br>
              <a:rPr lang="en-IN" sz="2400" dirty="0" smtClean="0">
                <a:latin typeface="Bodoni MT" pitchFamily="18" charset="0"/>
              </a:rPr>
            </a:br>
            <a:r>
              <a:rPr lang="en-IN" sz="2400" dirty="0" smtClean="0">
                <a:latin typeface="Bodoni MT" pitchFamily="18" charset="0"/>
              </a:rPr>
              <a:t> </a:t>
            </a:r>
            <a:endParaRPr lang="en-US" sz="2400" dirty="0">
              <a:latin typeface="Bodoni MT" pitchFamily="18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42910" y="1214422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571472" y="2285992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-You-for-Status-in-Engl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24" y="714356"/>
            <a:ext cx="7715304" cy="5357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233</Words>
  <Application>Microsoft Office PowerPoint</Application>
  <PresentationFormat>On-screen Show (4:3)</PresentationFormat>
  <Paragraphs>104</Paragraphs>
  <Slides>27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BLOCK CHAIN   IN HELPING   FARMERS</vt:lpstr>
      <vt:lpstr>INDRODUCTION :              Blockchain are primarily administered  using  peer to peer(p2p)computer  network for use as public distributed ledgers.            To add  and validate new transaction blocks, nodes cooperation according to a consensus algorithm protocol.            Blockchain may regarded as safe by desgin and serve as an a distributed computing  system with strong .            Blockchain  record are not unchangeable and blockchain forks  are conceivable                    </vt:lpstr>
      <vt:lpstr>   Remix                                 OPEN chrome AND SEARCH REMIX ETHEREUM WEBSITE            REMIX PLAYS WELL TO OTHER TOOLS AND ALLOWS A SIMPLE DEPLOYMENT PROCESS TO THE CHAIN   </vt:lpstr>
      <vt:lpstr>          After open the remix IDE, create workspace new and give the workspace name            Then select on new file and chick on solity to choose the environment                  After create a new file , write the program for AGRI application for smart contract using the ethereum blockchain         </vt:lpstr>
      <vt:lpstr>TASK1 : Create a Dapp in remix IDE  TASK 2 : Start Metamask Blockchain  TASK 3 : Connect remix IDE to Metamask           TASK 4 : Deploy dapp to metmask and test the funcation  TASK 5 : Interact with block and check the functionalities along with the gas deduction</vt:lpstr>
      <vt:lpstr>                                    write a program in a code section and click compiler button under the compiler window to compile the contract</vt:lpstr>
      <vt:lpstr>            </vt:lpstr>
      <vt:lpstr>Slide 9</vt:lpstr>
      <vt:lpstr>Slide 10</vt:lpstr>
      <vt:lpstr>Slide 11</vt:lpstr>
      <vt:lpstr>.</vt:lpstr>
      <vt:lpstr>Slide 13</vt:lpstr>
      <vt:lpstr>             After deploy ,now  check the corresponding  transaction record will  show now(agri) </vt:lpstr>
      <vt:lpstr>                                     Now open the add Deal in transcation recard            </vt:lpstr>
      <vt:lpstr>      Address will be  taken in deploy &amp;  run transcation in  account address will  be copy and paste  in customer address</vt:lpstr>
      <vt:lpstr>                      AFTER FILL THE INFORMATION THEN TRANSACT IT.</vt:lpstr>
      <vt:lpstr>                                   Given information are taken , then  can the DEBUG will be green TICK else some mistake will be presented .</vt:lpstr>
      <vt:lpstr>  STEP 1:       Open the deployed contract.  STEP 2:       Give the address both farmer and deals   STEP 3:       Fill  one by one without any unwanted mistake in contract  STEP 4:       Complete the over all information like add Deal , add Farmer , add Produce , get Deal and get Produce and finally select the transcat</vt:lpstr>
      <vt:lpstr>                                                                                   Confirm transaction details then deploy</vt:lpstr>
      <vt:lpstr>Slide 21</vt:lpstr>
      <vt:lpstr>  Deals information:</vt:lpstr>
      <vt:lpstr>Slide 23</vt:lpstr>
      <vt:lpstr>Slide 24</vt:lpstr>
      <vt:lpstr>                                                             Connected to metamask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2023-05-02T14:08:19Z</dcterms:created>
  <dcterms:modified xsi:type="dcterms:W3CDTF">2023-05-09T10:25:15Z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